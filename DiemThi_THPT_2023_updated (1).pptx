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youtu.be/38-SBXiemAQ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5029200" cy="5029200"/>
          </a:xfrm>
          <a:prstGeom prst="ellipse">
            <a:avLst/>
          </a:prstGeom>
          <a:solidFill>
            <a:srgbClr val="312E81">
              <a:alpha val="45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E1065">
              <a:alpha val="50000"/>
            </a:srgbClr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54864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40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566928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84FC"/>
                </a:solidFill>
              </a:rPr>
              <a:t>BÁO CÁO DỰ ÁN DATA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Điểm Thi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THPT Quốc Gia 2023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94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 thập • Làm sạch • Phân tích • Trực quan hóa hơn 1 triệu thí sinh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737360" cy="82296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85876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&gt;1M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Thí sinh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794760"/>
            <a:ext cx="1737360" cy="82296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85876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40MB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4251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Dữ liệu gốc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794760"/>
            <a:ext cx="1737360" cy="82296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85876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4251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Môn thi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3794760"/>
            <a:ext cx="1737360" cy="82296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858768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37960" y="425196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Tỉnh thành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Nhóm 5 | Môn: Khoa học Dữ liệu</a:t>
            </a:r>
            <a:endParaRPr lang="en-US" sz="900" dirty="0"/>
          </a:p>
        </p:txBody>
      </p:sp>
      <p:sp>
        <p:nvSpPr>
          <p:cNvPr id="22" name="YouTubeLink"/>
          <p:cNvSpPr/>
          <p:nvPr/>
        </p:nvSpPr>
        <p:spPr>
          <a:xfrm>
            <a:off x="960120" y="3154675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</a:rPr>
              <a:t>▶ </a:t>
            </a:r>
            <a:r>
              <a:rPr lang="en-US" sz="1400" dirty="0">
                <a:solidFill>
                  <a:srgbClr val="A78BFA"/>
                </a:solidFill>
                <a:latin typeface="Calibri" panose="020F0502020204030204" pitchFamily="34" charset="0"/>
                <a:hlinkClick r:id="rId1"/>
              </a:rPr>
              <a:t>youtu.be/38-SBXiemAQ</a:t>
            </a:r>
            <a:endParaRPr lang="en-US" sz="1400" dirty="0">
              <a:solidFill>
                <a:srgbClr val="A78BFA"/>
              </a:solidFill>
              <a:latin typeface="Calibri" panose="020F0502020204030204" pitchFamily="34" charset="0"/>
              <a:hlinkClick r:id="rId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12E81">
              <a:alpha val="40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Giới Thiệu Bài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291840"/>
          </a:xfrm>
          <a:prstGeom prst="rect">
            <a:avLst/>
          </a:prstGeom>
          <a:solidFill>
            <a:srgbClr val="111135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Làm gì?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04872"/>
            <a:ext cx="23774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 thập, làm sạch, phân tích và trực quan hóa toàn bộ dữ liệu điểm thi THPT Quốc gia năm 2023 của hơn 1 triệu thí sinh.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3291840"/>
          </a:xfrm>
          <a:prstGeom prst="rect">
            <a:avLst/>
          </a:prstGeom>
          <a:solidFill>
            <a:srgbClr val="111135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63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1984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Để làm gì?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404872"/>
            <a:ext cx="23774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Khám phá phân bố điểm, đánh giá độ khó đề thi, giúp học sinh và nhà trường định vị năng lực trên mặt bằng chung.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51760" cy="3291840"/>
          </a:xfrm>
          <a:prstGeom prst="rect">
            <a:avLst/>
          </a:prstGeom>
          <a:solidFill>
            <a:srgbClr val="111135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2588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630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1984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làm gì?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404872"/>
            <a:ext cx="23774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Việt (Tech Lead) • Sơn (Data Engineer) • Kiên (Data Analyst) • Tuấn Anh (Designer) • Nam (Media &amp; Docs)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E1065">
              <a:alpha val="45000"/>
            </a:srgbClr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Cách Làm &amp; Công Nghệ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3474720"/>
          </a:xfrm>
          <a:prstGeom prst="rect">
            <a:avLst/>
          </a:prstGeom>
          <a:solidFill>
            <a:srgbClr val="111135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40233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hình Phân Lớp (Layered Architecture)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1874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148840"/>
            <a:ext cx="3200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 thập CSV gốc (~40 MB) từ nguồn mở Kaggle.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28346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3108960"/>
            <a:ext cx="3200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ETL tự động bằng Pandas: đổi tên cột, xử lý NaN, gắn cờ điểm liệt.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94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3794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4069080"/>
            <a:ext cx="3200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bằng Jupyter Notebook, trực quan hóa bằng Matplotlib &amp; Seaborn.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023360" cy="3474720"/>
          </a:xfrm>
          <a:prstGeom prst="rect">
            <a:avLst/>
          </a:prstGeom>
          <a:solidFill>
            <a:srgbClr val="111135"/>
          </a:solidFill>
          <a:ln w="1016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25880"/>
            <a:ext cx="40233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173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Tại sao chọn cách này?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89280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18745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Hiệu năng &amp; Ổn định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2148840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xử lý &gt;1 triệu bản ghi trong thời gian thực dễ dàng.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85292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2834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Minh bạch &amp; Linh hoạt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3108960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 Python thuần dễ debug và tái sử dụng.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81304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3794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Khả năng Mở rộng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4069080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Dùng FastAPI mở rộng thành hệ thống tra cứu thực tế.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4E3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2A–2B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Ingestion &amp; ETL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29768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6366F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📥  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File nguồn: diem_thi_thpt_2023_raw.csv (~40 MB) từ Kaggle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🔧  Các bước ETL: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023360" cy="384048"/>
          </a:xfrm>
          <a:prstGeom prst="rect">
            <a:avLst/>
          </a:prstGeom>
          <a:solidFill>
            <a:srgbClr val="0F1F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59736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Đổi tên cột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2624328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dict mapping → snake_case Tiếng Việt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4023360" cy="384048"/>
          </a:xfrm>
          <a:prstGeom prst="rect">
            <a:avLst/>
          </a:prstGeom>
          <a:solidFill>
            <a:srgbClr val="0F1F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9864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Chuẩn hoá SBD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3063240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str.strip() → zfill(8)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4023360" cy="384048"/>
          </a:xfrm>
          <a:prstGeom prst="rect">
            <a:avLst/>
          </a:prstGeom>
          <a:solidFill>
            <a:srgbClr val="0F1F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3756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Trích xuất Mã Tỉnh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3502152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ma_tinh = sbd[:2]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39896"/>
            <a:ext cx="4023360" cy="384048"/>
          </a:xfrm>
          <a:prstGeom prst="rect">
            <a:avLst/>
          </a:prstGeom>
          <a:solidFill>
            <a:srgbClr val="0F1F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7647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Xử lý NaN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3941064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df.dropna(how='all'), ép kiểu float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4023360" cy="384048"/>
          </a:xfrm>
          <a:prstGeom prst="rect">
            <a:avLst/>
          </a:prstGeom>
          <a:solidFill>
            <a:srgbClr val="0F1F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21538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Gắn cờ Điểm Liệt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379976"/>
            <a:ext cx="3749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Xác định thí sinh điểm ≤ 1.0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1280160"/>
            <a:ext cx="384048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3716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📊  Preview: Ma trận tương quan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37360"/>
            <a:ext cx="37490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312E81">
              <a:alpha val="42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2C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– EDA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20240" cy="1783080"/>
          </a:xfrm>
          <a:prstGeom prst="rect">
            <a:avLst/>
          </a:prstGeom>
          <a:solidFill>
            <a:srgbClr val="111135"/>
          </a:solidFill>
          <a:ln w="889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9202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Thống kê mô tả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91056"/>
            <a:ext cx="17373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Tính mean, std, median – phân tích xu hướng trung tâm và độ phân tán cho từng môn thi.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67712" y="1115568"/>
            <a:ext cx="23317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67712" y="1115568"/>
            <a:ext cx="2331720" cy="1783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09160" y="1115568"/>
            <a:ext cx="1920240" cy="1783080"/>
          </a:xfrm>
          <a:prstGeom prst="rect">
            <a:avLst/>
          </a:prstGeom>
          <a:solidFill>
            <a:srgbClr val="111135"/>
          </a:solidFill>
          <a:ln w="889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15568"/>
            <a:ext cx="19202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8888" y="120700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Heatmap tương quan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18888" y="1591056"/>
            <a:ext cx="17373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 trận tương quan các môn. Cụm KHTN (Lý-Hóa-Sinh) liên quan chặt với Toán.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02552" y="1115568"/>
            <a:ext cx="23317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02552" y="1115568"/>
            <a:ext cx="2331720" cy="17830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4320" y="3081528"/>
            <a:ext cx="1920240" cy="1783080"/>
          </a:xfrm>
          <a:prstGeom prst="rect">
            <a:avLst/>
          </a:prstGeom>
          <a:solidFill>
            <a:srgbClr val="111135"/>
          </a:solidFill>
          <a:ln w="889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081528"/>
            <a:ext cx="19202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4048" y="317296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 phổ điểm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84048" y="3557016"/>
            <a:ext cx="17373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Phổ điểm từng môn: lệch trái, lệch phải hay phân bố chuẩn?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267712" y="3081528"/>
            <a:ext cx="23317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67712" y="3081528"/>
            <a:ext cx="2331720" cy="17830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09160" y="3081528"/>
            <a:ext cx="1920240" cy="1783080"/>
          </a:xfrm>
          <a:prstGeom prst="rect">
            <a:avLst/>
          </a:prstGeom>
          <a:solidFill>
            <a:srgbClr val="111135"/>
          </a:solidFill>
          <a:ln w="889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081528"/>
            <a:ext cx="19202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18888" y="3172968"/>
            <a:ext cx="1737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 phân tán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18888" y="3557016"/>
            <a:ext cx="17373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Lịch Sử và Ngoại Ngữ có độ phân tán rộng nhất và nhiều outliers.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02552" y="3081528"/>
            <a:ext cx="23317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02552" y="3081528"/>
            <a:ext cx="23317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12E81">
              <a:alpha val="38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2C – CHI TIẾT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Phổ Điểm Tất Cả Các Môn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1115568"/>
            <a:ext cx="28346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304288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313432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Toán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9544" y="1115568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09544" y="1115568"/>
            <a:ext cx="2834640" cy="1188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9544" y="2304288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9544" y="2313432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Ngữ Văn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99048" y="1115568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9048" y="1115568"/>
            <a:ext cx="2834640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99048" y="2304288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099048" y="2313432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Ngoại Ngữ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0040" y="2642616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0040" y="2642616"/>
            <a:ext cx="2834640" cy="11887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20040" y="3831336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20040" y="3840480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Vật Lí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09544" y="2642616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09544" y="2642616"/>
            <a:ext cx="2834640" cy="118872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209544" y="3831336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209544" y="3840480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Hóa Học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099048" y="2642616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99048" y="2642616"/>
            <a:ext cx="2834640" cy="11887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099048" y="3831336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099048" y="3840480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Sinh Học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20040" y="4169664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20040" y="4169664"/>
            <a:ext cx="2834640" cy="118872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320040" y="5358384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320040" y="5367528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Lịch Sử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3209544" y="4169664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209544" y="4169664"/>
            <a:ext cx="2834640" cy="118872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3209544" y="5358384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3209544" y="5367528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Địa Lí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6099048" y="4169664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099048" y="4169664"/>
            <a:ext cx="2834640" cy="118872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6099048" y="5358384"/>
            <a:ext cx="2834640" cy="2286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099048" y="5367528"/>
            <a:ext cx="28346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84FC"/>
                </a:solidFill>
              </a:rPr>
              <a:t>GDCD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2E1065">
              <a:alpha val="40000"/>
            </a:srgbClr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4 – BOXPLOT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 Phân Phối Điểm Các Môn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94360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143000"/>
            <a:ext cx="594360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143000"/>
            <a:ext cx="2286000" cy="3749040"/>
          </a:xfrm>
          <a:prstGeom prst="rect">
            <a:avLst/>
          </a:prstGeom>
          <a:solidFill>
            <a:srgbClr val="111135"/>
          </a:solidFill>
          <a:ln w="1016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92240" y="1143000"/>
            <a:ext cx="2286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📌 Nhận xét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1664208"/>
            <a:ext cx="2057400" cy="658368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17190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</a:rPr>
              <a:t>GDCD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56832" y="1938528"/>
            <a:ext cx="1920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Điểm cao nhất, tập trung 8–10. Phổ đẹp nhất.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0" y="2423160"/>
            <a:ext cx="2057400" cy="658368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56832" y="247802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</a:rPr>
              <a:t>Ngoại Ngữ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56832" y="2697480"/>
            <a:ext cx="1920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tán rộng nhất, nhiều outliers thấp.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0" y="3182112"/>
            <a:ext cx="2057400" cy="658368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6832" y="3236976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</a:rPr>
              <a:t>Lịch Sử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56832" y="3456432"/>
            <a:ext cx="1920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hóa mạnh, trải dài toàn thang điểm.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83680" y="3941064"/>
            <a:ext cx="2057400" cy="658368"/>
          </a:xfrm>
          <a:prstGeom prst="rect">
            <a:avLst/>
          </a:prstGeom>
          <a:solidFill>
            <a:srgbClr val="0A16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56832" y="399592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84FC"/>
                </a:solidFill>
              </a:rPr>
              <a:t>Toán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56832" y="4215384"/>
            <a:ext cx="1920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 vị ~6.5, phân bố cân đối.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4E3B">
              <a:alpha val="38000"/>
            </a:srgbClr>
          </a:solidFill>
          <a:ln w="12700">
            <a:solidFill>
              <a:srgbClr val="064E3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4 – HEATMAP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 Trận Tương Quan Các Môn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143000"/>
            <a:ext cx="5029200" cy="3749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143000"/>
            <a:ext cx="3200400" cy="3749040"/>
          </a:xfrm>
          <a:prstGeom prst="rect">
            <a:avLst/>
          </a:prstGeom>
          <a:solidFill>
            <a:srgbClr val="111135"/>
          </a:solidFill>
          <a:ln w="10160">
            <a:solidFill>
              <a:srgbClr val="6366F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143000"/>
            <a:ext cx="32004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87568" y="123444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🔥 Phát hiện chính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87568" y="1691640"/>
            <a:ext cx="2926080" cy="658368"/>
          </a:xfrm>
          <a:prstGeom prst="rect">
            <a:avLst/>
          </a:prstGeom>
          <a:solidFill>
            <a:srgbClr val="0A1628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87568" y="1691640"/>
            <a:ext cx="7315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1783080"/>
            <a:ext cx="27066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Toán – Ngoại Ngữ tương quan 0.59: cao nhất giữa 2 nhóm khác nhau.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87568" y="2459736"/>
            <a:ext cx="2926080" cy="658368"/>
          </a:xfrm>
          <a:prstGeom prst="rect">
            <a:avLst/>
          </a:prstGeom>
          <a:solidFill>
            <a:srgbClr val="0A1628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7568" y="2459736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33872" y="2551176"/>
            <a:ext cx="27066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Cụm KHTN (Lý-Hóa-Sinh): Hóa-Sinh có r=0.41, Lý-Hóa r=0.38.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227832"/>
            <a:ext cx="2926080" cy="658368"/>
          </a:xfrm>
          <a:prstGeom prst="rect">
            <a:avLst/>
          </a:prstGeom>
          <a:solidFill>
            <a:srgbClr val="0A1628"/>
          </a:solidFill>
          <a:ln w="7620">
            <a:solidFill>
              <a:srgbClr val="34D3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87568" y="3227832"/>
            <a:ext cx="73152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3872" y="3319272"/>
            <a:ext cx="27066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Cụm KHXH (Lịch Sử-Địa Lí-GDCD): tương quan nội bộ 0.57–0.61.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87568" y="3995928"/>
            <a:ext cx="2926080" cy="658368"/>
          </a:xfrm>
          <a:prstGeom prst="rect">
            <a:avLst/>
          </a:prstGeom>
          <a:solidFill>
            <a:srgbClr val="0A1628"/>
          </a:solidFill>
          <a:ln w="7620">
            <a:solidFill>
              <a:srgbClr val="818C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3995928"/>
            <a:ext cx="73152" cy="6583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3872" y="4087368"/>
            <a:ext cx="270662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Ngữ Văn ít tương quan với KHTN nhất (r~0.18–0.26).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1065">
              <a:alpha val="45000"/>
            </a:srgbClr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&amp; Nhận Xét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6217920" cy="1051560"/>
          </a:xfrm>
          <a:prstGeom prst="rect">
            <a:avLst/>
          </a:prstGeom>
          <a:solidFill>
            <a:srgbClr val="7C3AED">
              <a:alpha val="15000"/>
            </a:srgbClr>
          </a:solidFill>
          <a:ln w="10160">
            <a:solidFill>
              <a:srgbClr val="C084F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16736"/>
            <a:ext cx="502920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8992" y="138988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Phổ điểm Toán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709928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Đỉnh phổ tập trung ở mức 7.5–8.0, phân bố lệch phải. Đề thi phân loại rất tốt học sinh khá giỏi.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20840" y="1353312"/>
            <a:ext cx="201168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084F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20840" y="1353312"/>
            <a:ext cx="2011680" cy="9418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2468880"/>
            <a:ext cx="6217920" cy="1051560"/>
          </a:xfrm>
          <a:prstGeom prst="rect">
            <a:avLst/>
          </a:prstGeom>
          <a:solidFill>
            <a:srgbClr val="991B1B">
              <a:alpha val="15000"/>
            </a:srgbClr>
          </a:solidFill>
          <a:ln w="10160">
            <a:solidFill>
              <a:srgbClr val="FCA5A5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2487168"/>
            <a:ext cx="502920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078992" y="25603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Tương quan Heatmap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78992" y="2880360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số tương quan dương cao giữa cụm KHTN (Lý-Hóa-Sinh) và môn Toán. KHXH tương quan nội bộ cao.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20840" y="2523744"/>
            <a:ext cx="201168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20840" y="2523744"/>
            <a:ext cx="2011680" cy="9418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65760" y="3639312"/>
            <a:ext cx="6217920" cy="1051560"/>
          </a:xfrm>
          <a:prstGeom prst="rect">
            <a:avLst/>
          </a:prstGeom>
          <a:solidFill>
            <a:srgbClr val="065F46">
              <a:alpha val="15000"/>
            </a:srgbClr>
          </a:solidFill>
          <a:ln w="10160">
            <a:solidFill>
              <a:srgbClr val="34D39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02920" y="3657600"/>
            <a:ext cx="502920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1078992" y="373075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Ngoại lai Boxplot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78992" y="4050792"/>
            <a:ext cx="5394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Môn Lịch Sử và Ngoại Ngữ có độ phân tán cực rộng với nhiều Outliers – sự phân hóa năng lực rất mạnh.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720840" y="3694176"/>
            <a:ext cx="2011680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34D399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20840" y="3694176"/>
            <a:ext cx="2011680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312E81">
              <a:alpha val="40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Vấn Đề &amp; Đề Xuất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3200400"/>
          </a:xfrm>
          <a:prstGeom prst="rect">
            <a:avLst/>
          </a:prstGeom>
          <a:solidFill>
            <a:srgbClr val="1C0505"/>
          </a:solidFill>
          <a:ln w="1016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40233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Vấn đề tồn đọng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 phân tích bằng file PDF hoặc ảnh tĩnh gây hạn chế lớn cho việc tra cứu.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Học sinh không thể chủ động so sánh điểm số cá nhân với phổ điểm chung toàn quốc.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3200400"/>
          </a:xfrm>
          <a:prstGeom prst="rect">
            <a:avLst/>
          </a:prstGeom>
          <a:solidFill>
            <a:srgbClr val="071A10"/>
          </a:solidFill>
          <a:ln w="1016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25880"/>
            <a:ext cx="40233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Đề xuất giải pháp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Hệ thống Dashboard Tra Cứu tương tác: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38658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8658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3317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Nhập Số Báo Danh (SBD)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950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8895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66360" y="28346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Lấy dữ liệu qua FastAPI Backend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39242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924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66360" y="33375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Hiển thị điểm số chi tiết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89534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89534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6360" y="384048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Nhúng vị trí cá nhân lên biểu đồ Chart.js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4572000" cy="4572000"/>
          </a:xfrm>
          <a:prstGeom prst="ellipse">
            <a:avLst/>
          </a:prstGeom>
          <a:solidFill>
            <a:srgbClr val="312E81">
              <a:alpha val="35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PHẦN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– Cổng Tra Cứu Điểm THPT 2023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3520440"/>
          </a:xfrm>
          <a:prstGeom prst="rect">
            <a:avLst/>
          </a:prstGeom>
          <a:solidFill>
            <a:srgbClr val="0D0D2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8321040" cy="41148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 Cổng Tra Cứu Điểm Thi THPT 2023 – Mockup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83080" cy="64008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Toán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939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1801368"/>
            <a:ext cx="1783080" cy="64008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85623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Ngữ Văn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20939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80560" y="1801368"/>
            <a:ext cx="1783080" cy="64008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856232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Ngoại Ngữ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20939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2551176"/>
            <a:ext cx="1783080" cy="64008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Vật Lí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43784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2551176"/>
            <a:ext cx="1783080" cy="64008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260604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Hóa Học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2843784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7.25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80560" y="2551176"/>
            <a:ext cx="1783080" cy="64008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60604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Sinh Học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2843784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0" y="1764792"/>
            <a:ext cx="2194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6366F1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0" y="1764792"/>
            <a:ext cx="2194560" cy="246888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400800" y="4233672"/>
            <a:ext cx="2194560" cy="45720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4251960"/>
            <a:ext cx="21031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Vị trí điểm Toán trong phổ toàn quốc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11480" y="4892040"/>
            <a:ext cx="8321040" cy="274320"/>
          </a:xfrm>
          <a:prstGeom prst="rect">
            <a:avLst/>
          </a:prstGeom>
          <a:solidFill>
            <a:srgbClr val="111135"/>
          </a:solidFill>
          <a:ln w="12700">
            <a:solidFill>
              <a:srgbClr val="1111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4910328"/>
            <a:ext cx="80467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SBD: 01000001 | Tỉnh: 01 – Hà Nội  |  Công nghệ: FastAPI • Pandas • Chart.js • HTML/CSS/JS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312E81">
              <a:alpha val="45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E1065">
              <a:alpha val="45000"/>
            </a:srgbClr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Cảm ơn!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8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Nhóm 5 – Phân Tích Điểm Thi THPT Quốc Gia 2023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Việt • Tech Lead   |   Sơn • Data Engineer   |   Kiên • Data Analyst   |   Tuấn Anh • Designer   |   Nam • Media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2356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23644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3644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Pandas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4932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4932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Jupyter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46220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6220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Matplotlib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07508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7508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Seaborn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68796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8796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FastAPI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30084" y="3794760"/>
            <a:ext cx="1051560" cy="320040"/>
          </a:xfrm>
          <a:prstGeom prst="rect">
            <a:avLst/>
          </a:prstGeom>
          <a:solidFill>
            <a:srgbClr val="1A1A3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0084" y="3794760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Chart.js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Xin hỏi &amp; Giải đáp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3804</Words>
  <Application>WPS Presentation</Application>
  <PresentationFormat>On-screen Show (16:9)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Điểm Thi THPT Quốc Gia 2023</dc:title>
  <dc:creator>PptxGenJS</dc:creator>
  <dc:subject>PptxGenJS Presentation</dc:subject>
  <cp:lastModifiedBy>Kiên Nguyễn</cp:lastModifiedBy>
  <cp:revision>2</cp:revision>
  <dcterms:created xsi:type="dcterms:W3CDTF">2026-05-24T12:55:00Z</dcterms:created>
  <dcterms:modified xsi:type="dcterms:W3CDTF">2026-05-24T13:08:19Z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0DE057E8E1184BE4A7A58590B38DEEB9_12</vt:lpwstr>
  </property>
  <property fmtid="{D5CDD505-2E9C-101B-9397-08002B2CF9AE}" pid="3" name="KSOProductBuildVer">
    <vt:lpwstr>1033-12.1.0.26372</vt:lpwstr>
  </property>
</Properties>
</file>